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04"/>
    <p:restoredTop sz="94610"/>
  </p:normalViewPr>
  <p:slideViewPr>
    <p:cSldViewPr snapToGrid="0" snapToObjects="1">
      <p:cViewPr varScale="1">
        <p:scale>
          <a:sx n="126" d="100"/>
          <a:sy n="126"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134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49784" y="137160"/>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96031" y="480060"/>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82315" y="2080260"/>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4" name="Cover Lead"/>
          <p:cNvSpPr txBox="1"/>
          <p:nvPr/>
        </p:nvSpPr>
        <p:spPr>
          <a:xfrm>
            <a:off x="142912" y="2671904"/>
            <a:ext cx="5669280" cy="365760"/>
          </a:xfrm>
          <a:prstGeom prst="rect">
            <a:avLst/>
          </a:prstGeom>
          <a:noFill/>
          <a:ln/>
        </p:spPr>
        <p:txBody>
          <a:bodyPr wrap="square" lIns="0" tIns="0" rIns="0" bIns="0" rtlCol="0" anchor="ctr"/>
          <a:lstStyle/>
          <a:p>
            <a:pPr marL="0" indent="0">
              <a:buNone/>
            </a:pPr>
            <a:r>
              <a:rPr lang="en-US" sz="1600" i="1" dirty="0">
                <a:solidFill>
                  <a:schemeClr val="accent6"/>
                </a:solidFill>
              </a:rPr>
              <a:t>Introduce your team and the domain you have chosen</a:t>
            </a:r>
            <a:endParaRPr lang="en-US" sz="1600" dirty="0"/>
          </a:p>
        </p:txBody>
      </p:sp>
      <p:sp>
        <p:nvSpPr>
          <p:cNvPr id="15" name="Cover Fields"/>
          <p:cNvSpPr txBox="1"/>
          <p:nvPr/>
        </p:nvSpPr>
        <p:spPr>
          <a:xfrm>
            <a:off x="62541" y="3055952"/>
            <a:ext cx="4974280" cy="1481214"/>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050" dirty="0">
                <a:solidFill>
                  <a:schemeClr val="bg1"/>
                </a:solidFill>
              </a:rPr>
              <a:t>Team Name –  TEAM MAYRIX</a:t>
            </a:r>
            <a:endParaRPr lang="en-US" sz="1050" dirty="0"/>
          </a:p>
          <a:p>
            <a:pPr marL="279400" indent="-279400">
              <a:spcAft>
                <a:spcPts val="1400"/>
              </a:spcAft>
              <a:buClr>
                <a:schemeClr val="accent3"/>
              </a:buClr>
              <a:buSzPct val="100000"/>
              <a:buChar char="•"/>
            </a:pPr>
            <a:r>
              <a:rPr lang="en-US" sz="1050" dirty="0">
                <a:solidFill>
                  <a:schemeClr val="bg1"/>
                </a:solidFill>
              </a:rPr>
              <a:t>Team Members –  KARAKAVALASA ANISH (CB.SC.U4CSE26725)</a:t>
            </a:r>
          </a:p>
          <a:p>
            <a:pPr marL="279400" indent="-279400">
              <a:spcAft>
                <a:spcPts val="1400"/>
              </a:spcAft>
              <a:buClr>
                <a:schemeClr val="accent3"/>
              </a:buClr>
              <a:buSzPct val="100000"/>
              <a:buChar char="•"/>
            </a:pPr>
            <a:r>
              <a:rPr lang="en-US" sz="1050" dirty="0">
                <a:solidFill>
                  <a:schemeClr val="bg1"/>
                </a:solidFill>
              </a:rPr>
              <a:t>                                 MANOJ MIDRAN M (CB.SC.U4CSE26732)</a:t>
            </a:r>
          </a:p>
          <a:p>
            <a:pPr marL="279400" indent="-279400">
              <a:spcAft>
                <a:spcPts val="1400"/>
              </a:spcAft>
              <a:buClr>
                <a:schemeClr val="accent3"/>
              </a:buClr>
              <a:buSzPct val="100000"/>
              <a:buChar char="•"/>
            </a:pPr>
            <a:r>
              <a:rPr lang="en-US" sz="1050" dirty="0">
                <a:solidFill>
                  <a:schemeClr val="bg1"/>
                </a:solidFill>
              </a:rPr>
              <a:t>                                  TANISHQ RATHI (CB.SC.U4CSE26762)</a:t>
            </a:r>
          </a:p>
          <a:p>
            <a:pPr marL="279400" indent="-279400">
              <a:spcAft>
                <a:spcPts val="1400"/>
              </a:spcAft>
              <a:buClr>
                <a:schemeClr val="accent3"/>
              </a:buClr>
              <a:buSzPct val="100000"/>
              <a:buChar char="•"/>
            </a:pPr>
            <a:r>
              <a:rPr lang="en-US" sz="1050" dirty="0">
                <a:solidFill>
                  <a:schemeClr val="bg1"/>
                </a:solidFill>
              </a:rPr>
              <a:t>                                   ARYA V (CB.SC.U4CSE26709)</a:t>
            </a:r>
            <a:endParaRPr lang="en-US" sz="1050" dirty="0"/>
          </a:p>
          <a:p>
            <a:pPr marL="279400" indent="-279400">
              <a:spcAft>
                <a:spcPts val="1400"/>
              </a:spcAft>
              <a:buClr>
                <a:schemeClr val="accent3"/>
              </a:buClr>
              <a:buSzPct val="100000"/>
              <a:buChar char="•"/>
            </a:pPr>
            <a:r>
              <a:rPr lang="en-US" sz="1050" dirty="0">
                <a:solidFill>
                  <a:schemeClr val="bg1"/>
                </a:solidFill>
              </a:rPr>
              <a:t>Selected Domain – #2</a:t>
            </a:r>
            <a:endParaRPr lang="en-US" sz="1050" dirty="0"/>
          </a:p>
          <a:p>
            <a:pPr marL="279400" indent="-279400">
              <a:spcAft>
                <a:spcPts val="1400"/>
              </a:spcAft>
              <a:buClr>
                <a:schemeClr val="accent3"/>
              </a:buClr>
              <a:buSzPct val="100000"/>
              <a:buChar char="•"/>
            </a:pPr>
            <a:r>
              <a:rPr lang="en-US" sz="1050" b="1" u="sng" dirty="0">
                <a:solidFill>
                  <a:schemeClr val="bg1"/>
                </a:solidFill>
              </a:rPr>
              <a:t>Problem Statement </a:t>
            </a:r>
            <a:r>
              <a:rPr lang="en-US" sz="1050" dirty="0">
                <a:solidFill>
                  <a:schemeClr val="bg1"/>
                </a:solidFill>
              </a:rPr>
              <a:t>– :Large university campuses experience sudden and uneven crowding at canteens, libraries, shuttle stops, academic blocks, examination halls and other common areas. At the same time, campus buses and shuttles often operate on fixed schedules even though student demand changes depending on class timings, exams, events, weather and holidays. This leads to overcrowded locations, long queues, underutilized buses and inefficient movement across campus.</a:t>
            </a:r>
          </a:p>
          <a:p>
            <a:pPr marL="279400" indent="-279400">
              <a:spcAft>
                <a:spcPts val="1400"/>
              </a:spcAft>
              <a:buClr>
                <a:schemeClr val="accent3"/>
              </a:buClr>
              <a:buSzPct val="100000"/>
              <a:buChar char="•"/>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r>
              <a:rPr lang="en-US" dirty="0"/>
              <a:t>               TEAM MAYRIX</a:t>
            </a:r>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Explain the problem in your domain simply, in your own words</a:t>
            </a:r>
            <a:endParaRPr lang="en-US" sz="1800" dirty="0"/>
          </a:p>
        </p:txBody>
      </p:sp>
      <p:sp>
        <p:nvSpPr>
          <p:cNvPr id="10" name="Prompts"/>
          <p:cNvSpPr txBox="1"/>
          <p:nvPr/>
        </p:nvSpPr>
        <p:spPr>
          <a:xfrm>
            <a:off x="868680" y="2148840"/>
            <a:ext cx="10424160" cy="11887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What exactly needs to be solved?</a:t>
            </a:r>
          </a:p>
          <a:p>
            <a:pPr marL="279400" indent="-279400">
              <a:spcAft>
                <a:spcPts val="1000"/>
              </a:spcAft>
              <a:buClr>
                <a:schemeClr val="accent1"/>
              </a:buClr>
              <a:buSzPct val="100000"/>
              <a:buChar char="•"/>
            </a:pPr>
            <a:r>
              <a:rPr lang="en-US" dirty="0"/>
              <a:t>We need to develop a smart system that can monitor crowd movement, detect overcrowding and bottlenecks, and predict where and when crowd density will increase, so preventive action can be taken before the situation becomes unsafe.</a:t>
            </a:r>
            <a:endParaRPr lang="en-US" sz="1800" dirty="0"/>
          </a:p>
          <a:p>
            <a:pPr marL="279400" indent="-279400">
              <a:spcAft>
                <a:spcPts val="1000"/>
              </a:spcAft>
              <a:buClr>
                <a:schemeClr val="accent1"/>
              </a:buClr>
              <a:buSzPct val="100000"/>
              <a:buChar char="•"/>
            </a:pPr>
            <a:r>
              <a:rPr lang="en-US" sz="1800" dirty="0">
                <a:solidFill>
                  <a:schemeClr val="tx1"/>
                </a:solidFill>
              </a:rPr>
              <a:t>Why is it important right now?</a:t>
            </a:r>
          </a:p>
          <a:p>
            <a:pPr marL="279400" indent="-279400">
              <a:spcAft>
                <a:spcPts val="1000"/>
              </a:spcAft>
              <a:buClr>
                <a:schemeClr val="accent1"/>
              </a:buClr>
              <a:buSzPct val="100000"/>
              <a:buChar char="•"/>
            </a:pPr>
            <a:r>
              <a:rPr lang="en-US" dirty="0"/>
              <a:t>As cities, universities, events, transport hubs, and public spaces are becoming more crowded, managing large crowds safely is becoming increasingly difficult. Most systems react only after overcrowding happens. With AI and real-time data now available, we have the opportunity to predict crowd build-up earlier and take preventive action—making crowd management safer, smarter, and more scalable.</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sz="900"/>
              <a:t>TEAM</a:t>
            </a:r>
            <a:endParaRPr lang="en-US" sz="900" dirty="0"/>
          </a:p>
          <a:p>
            <a:pPr marL="0" indent="0">
              <a:buNone/>
            </a:pPr>
            <a:r>
              <a:rPr sz="1300"/>
              <a:t>TEAM MAYRIX</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sz="1700"/>
              <a:t>Who uses the system, who supports it, and who benefits</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sz="1600"/>
              <a:t>Primary users: campus administrators, security teams and transport/facility staff.</a:t>
            </a:r>
            <a:endParaRPr lang="en-US" sz="1800" dirty="0"/>
          </a:p>
          <a:p>
            <a:pPr marL="279400" indent="-279400">
              <a:spcAft>
                <a:spcPts val="1000"/>
              </a:spcAft>
              <a:buClr>
                <a:schemeClr val="accent1"/>
              </a:buClr>
              <a:buSzPct val="100000"/>
              <a:buChar char="•"/>
            </a:pPr>
            <a:r>
              <a:rPr sz="1600"/>
              <a:t>People affected: students, faculty, employees and visitors.</a:t>
            </a:r>
            <a:endParaRPr lang="en-US" sz="1800" dirty="0"/>
          </a:p>
          <a:p>
            <a:pPr marL="279400" indent="-279400">
              <a:spcAft>
                <a:spcPts val="1000"/>
              </a:spcAft>
              <a:buClr>
                <a:schemeClr val="accent1"/>
              </a:buClr>
              <a:buSzPct val="100000"/>
              <a:buChar char="•"/>
            </a:pPr>
            <a:r>
              <a:rPr sz="1600"/>
              <a:t>Beneficiaries: everyone on campus through safer movement, shorter queues and better planning.</a:t>
            </a:r>
            <a:endParaRPr lang="en-US" sz="1800" dirty="0"/>
          </a:p>
          <a:p>
            <a:r>
              <a:rPr sz="1600"/>
              <a:t>Future customers: stations, airports, malls, stadiums and event venues.</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r>
              <a:t>1</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sz="900"/>
              <a:t>TEAM</a:t>
            </a:r>
            <a:endParaRPr lang="en-US" sz="900" dirty="0"/>
          </a:p>
          <a:p>
            <a:pPr marL="0" indent="0">
              <a:buNone/>
            </a:pPr>
            <a:r>
              <a:rPr sz="1300"/>
              <a:t>TEAM MAYRIX</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sz="1700"/>
              <a:t>Crowd levels change quickly across a campus throughout the day</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sz="1600"/>
              <a:t>Crowds gather at entrances, academic blocks, libraries, canteens and shuttle stops.</a:t>
            </a:r>
            <a:endParaRPr lang="en-US" sz="1800" dirty="0"/>
          </a:p>
          <a:p>
            <a:pPr marL="279400" indent="-279400">
              <a:spcAft>
                <a:spcPts val="1000"/>
              </a:spcAft>
              <a:buClr>
                <a:schemeClr val="accent1"/>
              </a:buClr>
              <a:buSzPct val="100000"/>
              <a:buChar char="•"/>
            </a:pPr>
            <a:r>
              <a:rPr sz="1600"/>
              <a:t>Class changes, lunch breaks, exams, events and weather can shift demand.</a:t>
            </a:r>
            <a:endParaRPr lang="en-US" sz="1800" dirty="0"/>
          </a:p>
          <a:p>
            <a:pPr marL="279400" indent="-279400">
              <a:spcAft>
                <a:spcPts val="1000"/>
              </a:spcAft>
              <a:buClr>
                <a:schemeClr val="accent1"/>
              </a:buClr>
              <a:buSzPct val="100000"/>
              <a:buChar char="•"/>
            </a:pPr>
            <a:r>
              <a:rPr sz="1600"/>
              <a:t>Today, staff may notice congestion and respond manually after queues form.</a:t>
            </a:r>
            <a:endParaRPr lang="en-US" sz="1800" dirty="0"/>
          </a:p>
          <a:p>
            <a:r>
              <a:rPr sz="1600"/>
              <a:t>A campus pilot can collect counts/flow observations; no verified campus-wide figures are assumed.</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r>
              <a:t>2</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sz="900"/>
              <a:t>TEAM</a:t>
            </a:r>
            <a:endParaRPr lang="en-US" sz="900" dirty="0"/>
          </a:p>
          <a:p>
            <a:pPr marL="0" indent="0">
              <a:buNone/>
            </a:pPr>
            <a:r>
              <a:rPr sz="1300"/>
              <a:t>TEAM MAYRIX</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sz="1700"/>
              <a:t>The main issue is reacting to congestion instead of anticipating it</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sz="1600"/>
              <a:t>Hotspots and bottlenecks can form quickly at gates, corridors and shuttle stops.</a:t>
            </a:r>
            <a:endParaRPr lang="en-US" sz="1800" dirty="0"/>
          </a:p>
          <a:p>
            <a:pPr marL="279400" indent="-279400">
              <a:spcAft>
                <a:spcPts val="1000"/>
              </a:spcAft>
              <a:buClr>
                <a:schemeClr val="accent1"/>
              </a:buClr>
              <a:buSzPct val="100000"/>
              <a:buChar char="•"/>
            </a:pPr>
            <a:r>
              <a:rPr sz="1600"/>
              <a:t>Fixed timetables do not capture real-time changes in crowd movement.</a:t>
            </a:r>
            <a:endParaRPr lang="en-US" sz="1800" dirty="0"/>
          </a:p>
          <a:p>
            <a:pPr marL="279400" indent="-279400">
              <a:spcAft>
                <a:spcPts val="1000"/>
              </a:spcAft>
              <a:buClr>
                <a:schemeClr val="accent1"/>
              </a:buClr>
              <a:buSzPct val="100000"/>
              <a:buChar char="•"/>
            </a:pPr>
            <a:r>
              <a:rPr sz="1600"/>
              <a:t>Limited shared visibility makes it difficult to coordinate staff and manage flow.</a:t>
            </a:r>
            <a:endParaRPr lang="en-US" sz="1800" dirty="0"/>
          </a:p>
          <a:p>
            <a:r>
              <a:rPr sz="1600"/>
              <a:t>Late responses can mean long queues, delays, disrupted movement and potential safety risks.</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r>
              <a:t>3</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sz="900"/>
              <a:t>TEAM</a:t>
            </a:r>
            <a:endParaRPr lang="en-US" sz="900" dirty="0"/>
          </a:p>
          <a:p>
            <a:pPr marL="0" indent="0">
              <a:buNone/>
            </a:pPr>
            <a:r>
              <a:rPr sz="1300"/>
              <a:t>TEAM MAYRIX</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sz="1700"/>
              <a:t>Current methods help, but often provide limited prediction</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sz="1600"/>
              <a:t>Manual observation and security staff: useful on site, but reactive and difficult to scale.</a:t>
            </a:r>
            <a:endParaRPr lang="en-US" sz="1800" dirty="0"/>
          </a:p>
          <a:p>
            <a:pPr marL="279400" indent="-279400">
              <a:spcAft>
                <a:spcPts val="1000"/>
              </a:spcAft>
              <a:buClr>
                <a:schemeClr val="accent1"/>
              </a:buClr>
              <a:buSzPct val="100000"/>
              <a:buChar char="•"/>
            </a:pPr>
            <a:r>
              <a:rPr sz="1600"/>
              <a:t>Timetables, signs and announcements: communicate plans, but may not reflect live conditions.</a:t>
            </a:r>
            <a:endParaRPr lang="en-US" sz="1800" dirty="0"/>
          </a:p>
          <a:p>
            <a:pPr marL="279400" indent="-279400">
              <a:spcAft>
                <a:spcPts val="1000"/>
              </a:spcAft>
              <a:buClr>
                <a:schemeClr val="accent1"/>
              </a:buClr>
              <a:buSzPct val="100000"/>
              <a:buChar char="•"/>
            </a:pPr>
            <a:r>
              <a:rPr sz="1600"/>
              <a:t>CCTV or occupancy counts, where available: show current activity, but may not forecast what happens next.</a:t>
            </a:r>
            <a:endParaRPr lang="en-US" sz="1800" dirty="0"/>
          </a:p>
          <a:p>
            <a:r>
              <a:rPr sz="1600"/>
              <a:t>The gap: a unified, privacy-conscious view with early hotspot predictions and actionable alerts.</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r>
              <a:t>4</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sz="900"/>
              <a:t>TEAM</a:t>
            </a:r>
            <a:endParaRPr lang="en-US" sz="900" dirty="0"/>
          </a:p>
          <a:p>
            <a:pPr marL="0" indent="0">
              <a:buNone/>
            </a:pPr>
            <a:r>
              <a:rPr sz="1300"/>
              <a:t>TEAM MAYRIX</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sz="1700"/>
              <a:t>A practical pilot can combine simple inputs, prediction software and campus teams</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sz="1600"/>
              <a:t>Hardware/data: existing CCTV or counters where permitted, plus manual counts or occupancy inputs.</a:t>
            </a:r>
            <a:endParaRPr lang="en-US" sz="1800" dirty="0"/>
          </a:p>
          <a:p>
            <a:pPr marL="279400" indent="-279400">
              <a:spcAft>
                <a:spcPts val="1000"/>
              </a:spcAft>
              <a:buClr>
                <a:schemeClr val="accent1"/>
              </a:buClr>
              <a:buSzPct val="100000"/>
              <a:buChar char="•"/>
            </a:pPr>
            <a:r>
              <a:rPr sz="1600"/>
              <a:t>Software: Python backend, data storage, prediction model and a live dashboard with alerts.</a:t>
            </a:r>
            <a:endParaRPr lang="en-US" sz="1800" dirty="0"/>
          </a:p>
          <a:p>
            <a:pPr marL="279400" indent="-279400">
              <a:spcAft>
                <a:spcPts val="1000"/>
              </a:spcAft>
              <a:buClr>
                <a:schemeClr val="accent1"/>
              </a:buClr>
              <a:buSzPct val="100000"/>
              <a:buChar char="•"/>
            </a:pPr>
            <a:r>
              <a:rPr sz="1600"/>
              <a:t>People: campus administration, security/transport staff, IT support and the student development team.</a:t>
            </a:r>
            <a:endParaRPr lang="en-US" sz="1800" dirty="0"/>
          </a:p>
          <a:p>
            <a:r>
              <a:rPr sz="1600"/>
              <a:t>Requirements: pilot access, testing data, privacy safeguards and clear rules for who receives alerts.</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r>
              <a:t>5</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sz="900"/>
              <a:t>TEAM</a:t>
            </a:r>
            <a:endParaRPr lang="en-US" sz="900" dirty="0"/>
          </a:p>
          <a:p>
            <a:pPr marL="0" indent="0">
              <a:buNone/>
            </a:pPr>
            <a:r>
              <a:rPr sz="1300"/>
              <a:t>TEAM MAYRIX</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sz="1700"/>
              <a:t>Build a small pilot first, measure results, then scale</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sz="1600"/>
              <a:t>Prototype: map campus hotspots, estimate current crowd levels and predict near-future build-up.</a:t>
            </a:r>
            <a:endParaRPr lang="en-US" sz="1800" dirty="0"/>
          </a:p>
          <a:p>
            <a:pPr marL="279400" indent="-279400">
              <a:spcAft>
                <a:spcPts val="1000"/>
              </a:spcAft>
              <a:buClr>
                <a:schemeClr val="accent1"/>
              </a:buClr>
              <a:buSzPct val="100000"/>
              <a:buChar char="•"/>
            </a:pPr>
            <a:r>
              <a:rPr sz="1600"/>
              <a:t>Dashboard: show risk levels, expected hotspots and alerts so staff can act earlier.</a:t>
            </a:r>
            <a:endParaRPr lang="en-US" sz="1800" dirty="0"/>
          </a:p>
          <a:p>
            <a:pPr marL="279400" indent="-279400">
              <a:spcAft>
                <a:spcPts val="1000"/>
              </a:spcAft>
              <a:buClr>
                <a:schemeClr val="accent1"/>
              </a:buClr>
              <a:buSzPct val="100000"/>
              <a:buChar char="•"/>
            </a:pPr>
            <a:r>
              <a:rPr sz="1600"/>
              <a:t>Measure success: prediction accuracy, warning lead time, queue duration and observed congestion.</a:t>
            </a:r>
            <a:endParaRPr lang="en-US" sz="1800" dirty="0"/>
          </a:p>
          <a:p>
            <a:r>
              <a:rPr sz="1600"/>
              <a:t>Pilot on campus first; if validated, adapt the platform for stations, airports, malls, stadiums and events as a scalable startup.</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r>
              <a:t>6</a:t>
            </a:r>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794</Words>
  <Application>Microsoft Macintosh PowerPoint</Application>
  <PresentationFormat>Widescreen</PresentationFormat>
  <Paragraphs>82</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Anish Karakavalasa</cp:lastModifiedBy>
  <cp:revision>2</cp:revision>
  <dcterms:created xsi:type="dcterms:W3CDTF">2026-10-07T15:27:40Z</dcterms:created>
  <dcterms:modified xsi:type="dcterms:W3CDTF">2026-10-09T16:43:57Z</dcterms:modified>
</cp:coreProperties>
</file>